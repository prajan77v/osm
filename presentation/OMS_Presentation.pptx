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097280"/>
            <a:ext cx="9448495" cy="2926080"/>
          </a:xfrm>
          <a:prstGeom prst="rect">
            <a:avLst/>
          </a:prstGeom>
          <a:solidFill>
            <a:srgbClr val="0A122A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484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F0F0F5"/>
                </a:solidFill>
                <a:latin typeface="Arial"/>
              </a:rPr>
              <a:t>OMS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007F"/>
                </a:solidFill>
                <a:latin typeface="Arial"/>
              </a:rPr>
              <a:t>OBJECT MONITORING SYSTEM</a:t>
            </a:r>
          </a:p>
          <a:p>
            <a:pPr algn="ctr"/>
            <a:r>
              <a:rPr sz="1300">
                <a:solidFill>
                  <a:srgbClr val="94A3B8"/>
                </a:solidFill>
                <a:latin typeface="Courier New"/>
              </a:rPr>
              <a:t>AI-Powered Smart Surveillance &amp; Real-Time Monitoring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297680"/>
            <a:ext cx="4572000" cy="1828800"/>
          </a:xfrm>
          <a:prstGeom prst="rect">
            <a:avLst/>
          </a:prstGeom>
          <a:solidFill>
            <a:srgbClr val="08193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F0FF"/>
                </a:solidFill>
                <a:latin typeface="Courier New"/>
              </a:rPr>
              <a:t>[OVERVIEW]
</a:t>
            </a:r>
            <a:r>
              <a:rPr sz="1200">
                <a:solidFill>
                  <a:srgbClr val="F0F0F5"/>
                </a:solidFill>
                <a:latin typeface="Arial"/>
              </a:rPr>
              <a:t>OMS is an AI-based surveillance system that monitors live camera feeds, detects people/objects in real time, tracks activity, and features an interactive PyQt6 desktop dashboard.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095" y="4297680"/>
            <a:ext cx="4572000" cy="1828800"/>
          </a:xfrm>
          <a:prstGeom prst="rect">
            <a:avLst/>
          </a:prstGeom>
          <a:solidFill>
            <a:srgbClr val="0F0A19"/>
          </a:solidFill>
          <a:ln>
            <a:solidFill>
              <a:srgbClr val="FF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007F"/>
                </a:solidFill>
                <a:latin typeface="Courier New"/>
              </a:rPr>
              <a:t>[ACADEMIC DETAILS]
</a:t>
            </a:r>
            <a:r>
              <a:rPr sz="1200">
                <a:solidFill>
                  <a:srgbClr val="F0F0F5"/>
                </a:solidFill>
                <a:latin typeface="Arial"/>
              </a:rPr>
              <a:t>Developer: Student Name
Dept: Computer Science &amp; Engineering
Year: 2025 - 2026
Repo: github.com/yourprofile/oms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11277295" cy="18288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217920"/>
            <a:ext cx="11277295" cy="18288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Courier New"/>
              </a:defRPr>
            </a:pPr>
            <a:r>
              <a:t>OMS // AI SURVEILLANCE &amp; REAL-TIME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274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FF66"/>
                </a:solidFill>
                <a:latin typeface="Courier New"/>
              </a:defRPr>
            </a:pPr>
            <a:r>
              <a:t>SYS_STATUS: 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007F"/>
                </a:solidFill>
                <a:latin typeface="Courier New"/>
              </a:rPr>
              <a:t>01 </a:t>
            </a:r>
            <a:r>
              <a:rPr sz="2800" b="1">
                <a:solidFill>
                  <a:srgbClr val="F0F0F5"/>
                </a:solidFill>
                <a:latin typeface="Arial"/>
              </a:rPr>
              <a:t>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4114800" cy="36576"/>
          </a:xfrm>
          <a:prstGeom prst="rect">
            <a:avLst/>
          </a:prstGeom>
          <a:solidFill>
            <a:srgbClr val="FF007F"/>
          </a:solidFill>
          <a:ln>
            <a:solidFill>
              <a:srgbClr val="FF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2560320" cy="2286000"/>
          </a:xfrm>
          <a:prstGeom prst="rect">
            <a:avLst/>
          </a:prstGeom>
          <a:solidFill>
            <a:srgbClr val="0A0F1E"/>
          </a:solidFill>
          <a:ln w="19050">
            <a:solidFill>
              <a:srgbClr val="FF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/>
              <a:t>⚠️
</a:t>
            </a:r>
          </a:p>
          <a:p>
            <a:r>
              <a:rPr sz="1400" b="1">
                <a:solidFill>
                  <a:srgbClr val="F0F0F5"/>
                </a:solidFill>
                <a:latin typeface="Arial"/>
              </a:rPr>
              <a:t>Manual Fatigue
</a:t>
            </a:r>
          </a:p>
          <a:p>
            <a:r>
              <a:rPr sz="1100">
                <a:solidFill>
                  <a:srgbClr val="94A3B8"/>
                </a:solidFill>
                <a:latin typeface="Arial"/>
              </a:rPr>
              <a:t>Traditional CCTV systems require continuous, passive human monitoring.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011680"/>
            <a:ext cx="2560320" cy="2286000"/>
          </a:xfrm>
          <a:prstGeom prst="rect">
            <a:avLst/>
          </a:prstGeom>
          <a:solidFill>
            <a:srgbClr val="0A0F1E"/>
          </a:solidFill>
          <a:ln w="19050">
            <a:solidFill>
              <a:srgbClr val="FF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/>
              <a:t>📉
</a:t>
            </a:r>
          </a:p>
          <a:p>
            <a:r>
              <a:rPr sz="1400" b="1">
                <a:solidFill>
                  <a:srgbClr val="F0F0F5"/>
                </a:solidFill>
                <a:latin typeface="Arial"/>
              </a:rPr>
              <a:t>Human Error
</a:t>
            </a:r>
          </a:p>
          <a:p>
            <a:r>
              <a:rPr sz="1100">
                <a:solidFill>
                  <a:srgbClr val="94A3B8"/>
                </a:solidFill>
                <a:latin typeface="Arial"/>
              </a:rPr>
              <a:t>Operators frequently miss crucial, sudden, or stealthy security threats.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2011680"/>
            <a:ext cx="2560320" cy="2286000"/>
          </a:xfrm>
          <a:prstGeom prst="rect">
            <a:avLst/>
          </a:prstGeom>
          <a:solidFill>
            <a:srgbClr val="0A0F1E"/>
          </a:solidFill>
          <a:ln w="19050">
            <a:solidFill>
              <a:srgbClr val="FF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/>
              <a:t>🖥️
</a:t>
            </a:r>
          </a:p>
          <a:p>
            <a:r>
              <a:rPr sz="1400" b="1">
                <a:solidFill>
                  <a:srgbClr val="F0F0F5"/>
                </a:solidFill>
                <a:latin typeface="Arial"/>
              </a:rPr>
              <a:t>Multi-Feed Overhead
</a:t>
            </a:r>
          </a:p>
          <a:p>
            <a:r>
              <a:rPr sz="1100">
                <a:solidFill>
                  <a:srgbClr val="94A3B8"/>
                </a:solidFill>
                <a:latin typeface="Arial"/>
              </a:rPr>
              <a:t>Actively monitoring multiple camera feeds simultaneously is highly inefficient.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2011680"/>
            <a:ext cx="2560320" cy="2286000"/>
          </a:xfrm>
          <a:prstGeom prst="rect">
            <a:avLst/>
          </a:prstGeom>
          <a:solidFill>
            <a:srgbClr val="0A0F1E"/>
          </a:solidFill>
          <a:ln w="19050">
            <a:solidFill>
              <a:srgbClr val="FF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/>
              <a:t>🔒
</a:t>
            </a:r>
          </a:p>
          <a:p>
            <a:r>
              <a:rPr sz="1400" b="1">
                <a:solidFill>
                  <a:srgbClr val="F0F0F5"/>
                </a:solidFill>
                <a:latin typeface="Arial"/>
              </a:rPr>
              <a:t>No Scene Analysis
</a:t>
            </a:r>
          </a:p>
          <a:p>
            <a:r>
              <a:rPr sz="1100">
                <a:solidFill>
                  <a:srgbClr val="94A3B8"/>
                </a:solidFill>
                <a:latin typeface="Arial"/>
              </a:rPr>
              <a:t>Standard surveillance networks cannot classify items or detect intrusions automatically.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11277295" cy="1188720"/>
          </a:xfrm>
          <a:prstGeom prst="rect">
            <a:avLst/>
          </a:prstGeom>
          <a:solidFill>
            <a:srgbClr val="05050A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3344"/>
                </a:solidFill>
                <a:latin typeface="Arial"/>
              </a:rPr>
              <a:t>TRADITIONAL CCTV: Passive Recording &amp; Manual Review Only
</a:t>
            </a:r>
            <a:r>
              <a:rPr sz="1400" b="1">
                <a:solidFill>
                  <a:srgbClr val="FF007F"/>
                </a:solidFill>
                <a:latin typeface="Courier New"/>
              </a:rPr>
              <a:t>  VS  
</a:t>
            </a:r>
            <a:r>
              <a:rPr sz="1300" b="1">
                <a:solidFill>
                  <a:srgbClr val="00F0FF"/>
                </a:solidFill>
                <a:latin typeface="Arial"/>
              </a:rPr>
              <a:t>OMS SMART SURVEILLANCE: Automated Real-Time AI Scene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11277295" cy="18288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217920"/>
            <a:ext cx="11277295" cy="18288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Courier New"/>
              </a:defRPr>
            </a:pPr>
            <a:r>
              <a:t>OMS // AI SURVEILLANCE &amp; REAL-TIME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274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FF66"/>
                </a:solidFill>
                <a:latin typeface="Courier New"/>
              </a:defRPr>
            </a:pPr>
            <a:r>
              <a:t>SYS_STATUS: 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007F"/>
                </a:solidFill>
                <a:latin typeface="Courier New"/>
              </a:rPr>
              <a:t>02 </a:t>
            </a:r>
            <a:r>
              <a:rPr sz="2800" b="1">
                <a:solidFill>
                  <a:srgbClr val="F0F0F5"/>
                </a:solidFill>
                <a:latin typeface="Arial"/>
              </a:rPr>
              <a:t>OBJECTIVES OF THE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4114800" cy="36576"/>
          </a:xfrm>
          <a:prstGeom prst="rect">
            <a:avLst/>
          </a:prstGeom>
          <a:solidFill>
            <a:srgbClr val="FF007F"/>
          </a:solidFill>
          <a:ln>
            <a:solidFill>
              <a:srgbClr val="FF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6858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F0FF"/>
                </a:solidFill>
                <a:latin typeface="Courier New"/>
              </a:rPr>
              <a:t>» </a:t>
            </a:r>
            <a:r>
              <a:rPr sz="1300" b="1">
                <a:solidFill>
                  <a:srgbClr val="F0F0F5"/>
                </a:solidFill>
                <a:latin typeface="Arial"/>
              </a:rPr>
              <a:t>Real-time Surveillance Feed Monitoring: </a:t>
            </a:r>
            <a:r>
              <a:rPr sz="1200">
                <a:solidFill>
                  <a:srgbClr val="94A3B8"/>
                </a:solidFill>
                <a:latin typeface="Arial"/>
              </a:rPr>
              <a:t>Process and analyze live frame rates automatically.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F0FF"/>
                </a:solidFill>
                <a:latin typeface="Courier New"/>
              </a:rPr>
              <a:t>» </a:t>
            </a:r>
            <a:r>
              <a:rPr sz="1300" b="1">
                <a:solidFill>
                  <a:srgbClr val="F0F0F5"/>
                </a:solidFill>
                <a:latin typeface="Arial"/>
              </a:rPr>
              <a:t>Object Detection using YOLO Engine: </a:t>
            </a:r>
            <a:r>
              <a:rPr sz="1200">
                <a:solidFill>
                  <a:srgbClr val="94A3B8"/>
                </a:solidFill>
                <a:latin typeface="Arial"/>
              </a:rPr>
              <a:t>Localize and classify subjects (people, luggage, cars) instantly.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F0FF"/>
                </a:solidFill>
                <a:latin typeface="Courier New"/>
              </a:rPr>
              <a:t>» </a:t>
            </a:r>
            <a:r>
              <a:rPr sz="1300" b="1">
                <a:solidFill>
                  <a:srgbClr val="F0F0F5"/>
                </a:solidFill>
                <a:latin typeface="Arial"/>
              </a:rPr>
              <a:t>Face Recognition Integrations: </a:t>
            </a:r>
            <a:r>
              <a:rPr sz="1200">
                <a:solidFill>
                  <a:srgbClr val="94A3B8"/>
                </a:solidFill>
                <a:latin typeface="Arial"/>
              </a:rPr>
              <a:t>Identify known employees, students, or visitors inside monitored zones.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F0FF"/>
                </a:solidFill>
                <a:latin typeface="Courier New"/>
              </a:rPr>
              <a:t>» </a:t>
            </a:r>
            <a:r>
              <a:rPr sz="1300" b="1">
                <a:solidFill>
                  <a:srgbClr val="F0F0F5"/>
                </a:solidFill>
                <a:latin typeface="Arial"/>
              </a:rPr>
              <a:t>Movement Tracking &amp; History: </a:t>
            </a:r>
            <a:r>
              <a:rPr sz="1200">
                <a:solidFill>
                  <a:srgbClr val="94A3B8"/>
                </a:solidFill>
                <a:latin typeface="Arial"/>
              </a:rPr>
              <a:t>Track unique target trajectories and assign IDs across frames.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F0FF"/>
                </a:solidFill>
                <a:latin typeface="Courier New"/>
              </a:rPr>
              <a:t>» </a:t>
            </a:r>
            <a:r>
              <a:rPr sz="1300" b="1">
                <a:solidFill>
                  <a:srgbClr val="F0F0F5"/>
                </a:solidFill>
                <a:latin typeface="Arial"/>
              </a:rPr>
              <a:t>Automated Security Event Logging: </a:t>
            </a:r>
            <a:r>
              <a:rPr sz="1200">
                <a:solidFill>
                  <a:srgbClr val="94A3B8"/>
                </a:solidFill>
                <a:latin typeface="Arial"/>
              </a:rPr>
              <a:t>Log logs, timestamps, alerts, and classifications to disk database.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F0FF"/>
                </a:solidFill>
                <a:latin typeface="Courier New"/>
              </a:rPr>
              <a:t>» </a:t>
            </a:r>
            <a:r>
              <a:rPr sz="1300" b="1">
                <a:solidFill>
                  <a:srgbClr val="F0F0F5"/>
                </a:solidFill>
                <a:latin typeface="Arial"/>
              </a:rPr>
              <a:t>Fast Desktop PyQt6 Dashboard Console: </a:t>
            </a:r>
            <a:r>
              <a:rPr sz="1200">
                <a:solidFill>
                  <a:srgbClr val="94A3B8"/>
                </a:solidFill>
                <a:latin typeface="Arial"/>
              </a:rPr>
              <a:t>Present live visual tracking data and active logs grid to operators.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0" y="2286000"/>
            <a:ext cx="2926080" cy="2926080"/>
          </a:xfrm>
          <a:prstGeom prst="ellipse">
            <a:avLst/>
          </a:prstGeom>
          <a:solidFill>
            <a:srgbClr val="030F1E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0"/>
              </a:spcBef>
            </a:pPr>
            <a:r>
              <a:rPr sz="1200" b="1">
                <a:solidFill>
                  <a:srgbClr val="00F0FF"/>
                </a:solidFill>
                <a:latin typeface="Courier New"/>
              </a:rPr>
              <a:t>OMS RADAR
[TARGET_SCAN: OK]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11277295" cy="18288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217920"/>
            <a:ext cx="11277295" cy="18288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Courier New"/>
              </a:defRPr>
            </a:pPr>
            <a:r>
              <a:t>OMS // AI SURVEILLANCE &amp; REAL-TIME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274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FF66"/>
                </a:solidFill>
                <a:latin typeface="Courier New"/>
              </a:defRPr>
            </a:pPr>
            <a:r>
              <a:t>SYS_STATUS: 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007F"/>
                </a:solidFill>
                <a:latin typeface="Courier New"/>
              </a:rPr>
              <a:t>03 </a:t>
            </a:r>
            <a:r>
              <a:rPr sz="2800" b="1">
                <a:solidFill>
                  <a:srgbClr val="F0F0F5"/>
                </a:solidFill>
                <a:latin typeface="Arial"/>
              </a:rP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4114800" cy="36576"/>
          </a:xfrm>
          <a:prstGeom prst="rect">
            <a:avLst/>
          </a:prstGeom>
          <a:solidFill>
            <a:srgbClr val="FF007F"/>
          </a:solidFill>
          <a:ln>
            <a:solidFill>
              <a:srgbClr val="FF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1645920" cy="1645920"/>
          </a:xfrm>
          <a:prstGeom prst="rect">
            <a:avLst/>
          </a:prstGeom>
          <a:solidFill>
            <a:srgbClr val="0A0F1E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0F0F5"/>
                </a:solidFill>
                <a:latin typeface="Arial"/>
              </a:rPr>
              <a:t>Camera Feed
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Courier New"/>
              </a:rPr>
              <a:t>Webcam/RTSP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926080"/>
            <a:ext cx="18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007F"/>
                </a:solidFill>
              </a:rPr>
              <a:t>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377440"/>
            <a:ext cx="1645920" cy="1645920"/>
          </a:xfrm>
          <a:prstGeom prst="rect">
            <a:avLst/>
          </a:prstGeom>
          <a:solidFill>
            <a:srgbClr val="0A0F1E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0F0F5"/>
                </a:solidFill>
                <a:latin typeface="Arial"/>
              </a:rPr>
              <a:t>Frame Capture
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Courier New"/>
              </a:rPr>
              <a:t>OpenCV Decoder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926080"/>
            <a:ext cx="18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007F"/>
                </a:solidFill>
              </a:rPr>
              <a:t>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2377440"/>
            <a:ext cx="1645920" cy="1645920"/>
          </a:xfrm>
          <a:prstGeom prst="rect">
            <a:avLst/>
          </a:prstGeom>
          <a:solidFill>
            <a:srgbClr val="0C2D40"/>
          </a:solidFill>
          <a:ln w="317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0F0F5"/>
                </a:solidFill>
                <a:latin typeface="Arial"/>
              </a:rPr>
              <a:t>YOLO Core
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Courier New"/>
              </a:rPr>
              <a:t>AI Detector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926080"/>
            <a:ext cx="18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007F"/>
                </a:solidFill>
              </a:rPr>
              <a:t>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2377440"/>
            <a:ext cx="1645920" cy="1645920"/>
          </a:xfrm>
          <a:prstGeom prst="rect">
            <a:avLst/>
          </a:prstGeom>
          <a:solidFill>
            <a:srgbClr val="2D0C23"/>
          </a:solidFill>
          <a:ln w="31750">
            <a:solidFill>
              <a:srgbClr val="FF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0F0F5"/>
                </a:solidFill>
                <a:latin typeface="Arial"/>
              </a:rPr>
              <a:t>Tracking Engine
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Courier New"/>
              </a:rPr>
              <a:t>Embedding 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926080"/>
            <a:ext cx="18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007F"/>
                </a:solidFill>
              </a:rPr>
              <a:t>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377440"/>
            <a:ext cx="1645920" cy="1645920"/>
          </a:xfrm>
          <a:prstGeom prst="rect">
            <a:avLst/>
          </a:prstGeom>
          <a:solidFill>
            <a:srgbClr val="0A0F1E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0F0F5"/>
                </a:solidFill>
                <a:latin typeface="Arial"/>
              </a:rPr>
              <a:t>Event Logger
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Courier New"/>
              </a:rPr>
              <a:t>Persistence 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926080"/>
            <a:ext cx="18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007F"/>
                </a:solidFill>
              </a:rPr>
              <a:t>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2377440"/>
            <a:ext cx="1645920" cy="1645920"/>
          </a:xfrm>
          <a:prstGeom prst="rect">
            <a:avLst/>
          </a:prstGeom>
          <a:solidFill>
            <a:srgbClr val="0A0F1E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0F0F5"/>
                </a:solidFill>
                <a:latin typeface="Arial"/>
              </a:rPr>
              <a:t>Live UI
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Courier New"/>
              </a:rPr>
              <a:t>PyQt6 Dashboard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72000"/>
            <a:ext cx="11277295" cy="1188720"/>
          </a:xfrm>
          <a:prstGeom prst="rect">
            <a:avLst/>
          </a:prstGeom>
          <a:solidFill>
            <a:srgbClr val="050C1C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F0FF"/>
                </a:solidFill>
                <a:latin typeface="Courier New"/>
              </a:rPr>
              <a:t>[PIPELINE DESCRIPTION]
</a:t>
            </a:r>
            <a:r>
              <a:rPr sz="1200">
                <a:solidFill>
                  <a:srgbClr val="F0F0F5"/>
                </a:solidFill>
                <a:latin typeface="Arial"/>
              </a:rPr>
              <a:t>OMS receives video from a camera source, processes each frame, detects people/objects, performs recognition and tracking where needed, logs important events, and displays the results in the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11277295" cy="18288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217920"/>
            <a:ext cx="11277295" cy="18288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Courier New"/>
              </a:defRPr>
            </a:pPr>
            <a:r>
              <a:t>OMS // AI SURVEILLANCE &amp; REAL-TIME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274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FF66"/>
                </a:solidFill>
                <a:latin typeface="Courier New"/>
              </a:defRPr>
            </a:pPr>
            <a:r>
              <a:t>SYS_STATUS: 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007F"/>
                </a:solidFill>
                <a:latin typeface="Courier New"/>
              </a:rPr>
              <a:t>04 </a:t>
            </a:r>
            <a:r>
              <a:rPr sz="2800" b="1">
                <a:solidFill>
                  <a:srgbClr val="F0F0F5"/>
                </a:solidFill>
                <a:latin typeface="Arial"/>
              </a:rPr>
              <a:t>WORKING OF OMS / MAIN MODULES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4114800" cy="36576"/>
          </a:xfrm>
          <a:prstGeom prst="rect">
            <a:avLst/>
          </a:prstGeom>
          <a:solidFill>
            <a:srgbClr val="FF007F"/>
          </a:solidFill>
          <a:ln>
            <a:solidFill>
              <a:srgbClr val="FF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0F0FF"/>
                </a:solidFill>
                <a:latin typeface="Arial"/>
              </a:rPr>
              <a:t>Core Modules:
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0F0F5"/>
                </a:solidFill>
                <a:latin typeface="Arial"/>
              </a:rPr>
              <a:t>1. Camera Input Module
</a:t>
            </a:r>
            <a:r>
              <a:rPr sz="1100">
                <a:solidFill>
                  <a:srgbClr val="94A3B8"/>
                </a:solidFill>
                <a:latin typeface="Arial"/>
              </a:rPr>
              <a:t>Interfaces with usb cams, RTSP network feeds, and archives.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0F0F5"/>
                </a:solidFill>
                <a:latin typeface="Arial"/>
              </a:rPr>
              <a:t>2. Object Detection Module
</a:t>
            </a:r>
            <a:r>
              <a:rPr sz="1100">
                <a:solidFill>
                  <a:srgbClr val="94A3B8"/>
                </a:solidFill>
                <a:latin typeface="Arial"/>
              </a:rPr>
              <a:t>Passes frames to YOLO to return boundary coordinates.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0F0F5"/>
                </a:solidFill>
                <a:latin typeface="Arial"/>
              </a:rPr>
              <a:t>3. Face Recognition Module
</a:t>
            </a:r>
            <a:r>
              <a:rPr sz="1100">
                <a:solidFill>
                  <a:srgbClr val="94A3B8"/>
                </a:solidFill>
                <a:latin typeface="Arial"/>
              </a:rPr>
              <a:t>Compares facial crops with database models.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0F0F5"/>
                </a:solidFill>
                <a:latin typeface="Arial"/>
              </a:rPr>
              <a:t>4. Tracking &amp; Logging Engine
</a:t>
            </a:r>
            <a:r>
              <a:rPr sz="1100">
                <a:solidFill>
                  <a:srgbClr val="94A3B8"/>
                </a:solidFill>
                <a:latin typeface="Arial"/>
              </a:rPr>
              <a:t>Maintains target state and updates log registers.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F007F"/>
                </a:solidFill>
                <a:latin typeface="Arial"/>
              </a:rPr>
              <a:t>Active Workflow Loop:
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007F"/>
                </a:solidFill>
                <a:latin typeface="Courier New"/>
              </a:rPr>
              <a:t>[01] </a:t>
            </a:r>
            <a:r>
              <a:rPr sz="1200" b="1">
                <a:solidFill>
                  <a:srgbClr val="F0F0F5"/>
                </a:solidFill>
                <a:latin typeface="Arial"/>
              </a:rPr>
              <a:t>Stream Capture: </a:t>
            </a:r>
            <a:r>
              <a:rPr sz="1100">
                <a:solidFill>
                  <a:srgbClr val="94A3B8"/>
                </a:solidFill>
                <a:latin typeface="Arial"/>
              </a:rPr>
              <a:t>Continuously read and capture raw frame buffers.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007F"/>
                </a:solidFill>
                <a:latin typeface="Courier New"/>
              </a:rPr>
              <a:t>[02] </a:t>
            </a:r>
            <a:r>
              <a:rPr sz="1200" b="1">
                <a:solidFill>
                  <a:srgbClr val="F0F0F5"/>
                </a:solidFill>
                <a:latin typeface="Arial"/>
              </a:rPr>
              <a:t>AI Model Analysis: </a:t>
            </a:r>
            <a:r>
              <a:rPr sz="1100">
                <a:solidFill>
                  <a:srgbClr val="94A3B8"/>
                </a:solidFill>
                <a:latin typeface="Arial"/>
              </a:rPr>
              <a:t>Feed frames to YOLO model for target identification.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007F"/>
                </a:solidFill>
                <a:latin typeface="Courier New"/>
              </a:rPr>
              <a:t>[03] </a:t>
            </a:r>
            <a:r>
              <a:rPr sz="1200" b="1">
                <a:solidFill>
                  <a:srgbClr val="F0F0F5"/>
                </a:solidFill>
                <a:latin typeface="Arial"/>
              </a:rPr>
              <a:t>Trajectory Track: </a:t>
            </a:r>
            <a:r>
              <a:rPr sz="1100">
                <a:solidFill>
                  <a:srgbClr val="94A3B8"/>
                </a:solidFill>
                <a:latin typeface="Arial"/>
              </a:rPr>
              <a:t>Associate boundaries with IDs and scan registered faces.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007F"/>
                </a:solidFill>
                <a:latin typeface="Courier New"/>
              </a:rPr>
              <a:t>[04] </a:t>
            </a:r>
            <a:r>
              <a:rPr sz="1200" b="1">
                <a:solidFill>
                  <a:srgbClr val="F0F0F5"/>
                </a:solidFill>
                <a:latin typeface="Arial"/>
              </a:rPr>
              <a:t>Database Persistence: </a:t>
            </a:r>
            <a:r>
              <a:rPr sz="1100">
                <a:solidFill>
                  <a:srgbClr val="94A3B8"/>
                </a:solidFill>
                <a:latin typeface="Arial"/>
              </a:rPr>
              <a:t>Commit alert updates to local disk log files.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007F"/>
                </a:solidFill>
                <a:latin typeface="Courier New"/>
              </a:rPr>
              <a:t>[05] </a:t>
            </a:r>
            <a:r>
              <a:rPr sz="1200" b="1">
                <a:solidFill>
                  <a:srgbClr val="F0F0F5"/>
                </a:solidFill>
                <a:latin typeface="Arial"/>
              </a:rPr>
              <a:t>Refresh GUI Dashboard: </a:t>
            </a:r>
            <a:r>
              <a:rPr sz="1100">
                <a:solidFill>
                  <a:srgbClr val="94A3B8"/>
                </a:solidFill>
                <a:latin typeface="Arial"/>
              </a:rPr>
              <a:t>Render annotated frame streams and update logs lists.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11277295" cy="18288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217920"/>
            <a:ext cx="11277295" cy="18288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Courier New"/>
              </a:defRPr>
            </a:pPr>
            <a:r>
              <a:t>OMS // AI SURVEILLANCE &amp; REAL-TIME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274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FF66"/>
                </a:solidFill>
                <a:latin typeface="Courier New"/>
              </a:defRPr>
            </a:pPr>
            <a:r>
              <a:t>SYS_STATUS: 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007F"/>
                </a:solidFill>
                <a:latin typeface="Courier New"/>
              </a:rPr>
              <a:t>05 </a:t>
            </a:r>
            <a:r>
              <a:rPr sz="2800" b="1">
                <a:solidFill>
                  <a:srgbClr val="F0F0F5"/>
                </a:solidFill>
                <a:latin typeface="Arial"/>
              </a:rPr>
              <a:t>KEY FEATURES &amp; TECHNOLOGIES USED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4114800" cy="36576"/>
          </a:xfrm>
          <a:prstGeom prst="rect">
            <a:avLst/>
          </a:prstGeom>
          <a:solidFill>
            <a:srgbClr val="FF007F"/>
          </a:solidFill>
          <a:ln>
            <a:solidFill>
              <a:srgbClr val="FF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0F0FF"/>
                </a:solidFill>
                <a:latin typeface="Arial"/>
              </a:rPr>
              <a:t>Key Features:
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0F0FF"/>
                </a:solidFill>
                <a:latin typeface="Courier New"/>
              </a:rPr>
              <a:t>» </a:t>
            </a:r>
            <a:r>
              <a:rPr sz="1200">
                <a:solidFill>
                  <a:srgbClr val="F0F0F5"/>
                </a:solidFill>
                <a:latin typeface="Arial"/>
              </a:rPr>
              <a:t>Multi-source streams compatibility (Webcams, CCTV IP RTSP feeds).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0F0FF"/>
                </a:solidFill>
                <a:latin typeface="Courier New"/>
              </a:rPr>
              <a:t>» </a:t>
            </a:r>
            <a:r>
              <a:rPr sz="1200">
                <a:solidFill>
                  <a:srgbClr val="F0F0F5"/>
                </a:solidFill>
                <a:latin typeface="Arial"/>
              </a:rPr>
              <a:t>High-performance detection with optimized inference latency.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0F0FF"/>
                </a:solidFill>
                <a:latin typeface="Courier New"/>
              </a:rPr>
              <a:t>» </a:t>
            </a:r>
            <a:r>
              <a:rPr sz="1200">
                <a:solidFill>
                  <a:srgbClr val="F0F0F5"/>
                </a:solidFill>
                <a:latin typeface="Arial"/>
              </a:rPr>
              <a:t>Entity tracking to avoid redundant logging of active targets.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0F0FF"/>
                </a:solidFill>
                <a:latin typeface="Courier New"/>
              </a:rPr>
              <a:t>» </a:t>
            </a:r>
            <a:r>
              <a:rPr sz="1200">
                <a:solidFill>
                  <a:srgbClr val="F0F0F5"/>
                </a:solidFill>
                <a:latin typeface="Arial"/>
              </a:rPr>
              <a:t>Persistent logs database with timestamps and confidence records.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0F0FF"/>
                </a:solidFill>
                <a:latin typeface="Courier New"/>
              </a:rPr>
              <a:t>» </a:t>
            </a:r>
            <a:r>
              <a:rPr sz="1200">
                <a:solidFill>
                  <a:srgbClr val="F0F0F5"/>
                </a:solidFill>
                <a:latin typeface="Arial"/>
              </a:rPr>
              <a:t>Interactive PyQt6 desktop control UI dashboard panel.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FF007F"/>
                </a:solidFill>
                <a:latin typeface="Arial"/>
              </a:rPr>
              <a:t>Technology Stack Purpose:
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F0FF"/>
                </a:solidFill>
                <a:latin typeface="Arial"/>
              </a:rPr>
              <a:t>Python: </a:t>
            </a:r>
            <a:r>
              <a:rPr sz="1100">
                <a:solidFill>
                  <a:srgbClr val="94A3B8"/>
                </a:solidFill>
                <a:latin typeface="Arial"/>
              </a:rPr>
              <a:t>Core system orchestration &amp; scripting logic.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F0FF"/>
                </a:solidFill>
                <a:latin typeface="Arial"/>
              </a:rPr>
              <a:t>OpenCV: </a:t>
            </a:r>
            <a:r>
              <a:rPr sz="1100">
                <a:solidFill>
                  <a:srgbClr val="94A3B8"/>
                </a:solidFill>
                <a:latin typeface="Arial"/>
              </a:rPr>
              <a:t>Stream frame decoding &amp; rendering processes.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F0FF"/>
                </a:solidFill>
                <a:latin typeface="Arial"/>
              </a:rPr>
              <a:t>YOLO Engine: </a:t>
            </a:r>
            <a:r>
              <a:rPr sz="1100">
                <a:solidFill>
                  <a:srgbClr val="94A3B8"/>
                </a:solidFill>
                <a:latin typeface="Arial"/>
              </a:rPr>
              <a:t>Deep learning model for multi-object detection.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F0FF"/>
                </a:solidFill>
                <a:latin typeface="Arial"/>
              </a:rPr>
              <a:t>PyQt6: </a:t>
            </a:r>
            <a:r>
              <a:rPr sz="1100">
                <a:solidFill>
                  <a:srgbClr val="94A3B8"/>
                </a:solidFill>
                <a:latin typeface="Arial"/>
              </a:rPr>
              <a:t>Responsive graphical user dashboard interface.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F0FF"/>
                </a:solidFill>
                <a:latin typeface="Arial"/>
              </a:rPr>
              <a:t>Face Recognition: </a:t>
            </a:r>
            <a:r>
              <a:rPr sz="1100">
                <a:solidFill>
                  <a:srgbClr val="94A3B8"/>
                </a:solidFill>
                <a:latin typeface="Arial"/>
              </a:rPr>
              <a:t>Generates facial embeddings and matching.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F0FF"/>
                </a:solidFill>
                <a:latin typeface="Arial"/>
              </a:rPr>
              <a:t>NumPy: </a:t>
            </a:r>
            <a:r>
              <a:rPr sz="1100">
                <a:solidFill>
                  <a:srgbClr val="94A3B8"/>
                </a:solidFill>
                <a:latin typeface="Arial"/>
              </a:rPr>
              <a:t>Efficient frame array calculations &amp; manipulation.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11277295" cy="18288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217920"/>
            <a:ext cx="11277295" cy="18288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Courier New"/>
              </a:defRPr>
            </a:pPr>
            <a:r>
              <a:t>OMS // AI SURVEILLANCE &amp; REAL-TIME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274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FF66"/>
                </a:solidFill>
                <a:latin typeface="Courier New"/>
              </a:defRPr>
            </a:pPr>
            <a:r>
              <a:t>SYS_STATUS: 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007F"/>
                </a:solidFill>
                <a:latin typeface="Courier New"/>
              </a:rPr>
              <a:t>06 </a:t>
            </a:r>
            <a:r>
              <a:rPr sz="2800" b="1">
                <a:solidFill>
                  <a:srgbClr val="F0F0F5"/>
                </a:solidFill>
                <a:latin typeface="Arial"/>
              </a:rPr>
              <a:t>APPLICATIONS AND FUTURE 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4114800" cy="36576"/>
          </a:xfrm>
          <a:prstGeom prst="rect">
            <a:avLst/>
          </a:prstGeom>
          <a:solidFill>
            <a:srgbClr val="FF007F"/>
          </a:solidFill>
          <a:ln>
            <a:solidFill>
              <a:srgbClr val="FF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0F0FF"/>
                </a:solidFill>
                <a:latin typeface="Arial"/>
              </a:rPr>
              <a:t>Target Deployment Environments:
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0F0F5"/>
                </a:solidFill>
                <a:latin typeface="Arial"/>
              </a:rPr>
              <a:t>• Computer Science Labs: </a:t>
            </a:r>
            <a:r>
              <a:rPr sz="1100">
                <a:solidFill>
                  <a:srgbClr val="94A3B8"/>
                </a:solidFill>
                <a:latin typeface="Arial"/>
              </a:rPr>
              <a:t>Log access controls of restricted computing areas.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0F0F5"/>
                </a:solidFill>
                <a:latin typeface="Arial"/>
              </a:rPr>
              <a:t>• Educational Campuses: </a:t>
            </a:r>
            <a:r>
              <a:rPr sz="1100">
                <a:solidFill>
                  <a:srgbClr val="94A3B8"/>
                </a:solidFill>
                <a:latin typeface="Arial"/>
              </a:rPr>
              <a:t>Monitor campus perimeters and identify visitors.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0F0F5"/>
                </a:solidFill>
                <a:latin typeface="Arial"/>
              </a:rPr>
              <a:t>• Corporate Offices: </a:t>
            </a:r>
            <a:r>
              <a:rPr sz="1100">
                <a:solidFill>
                  <a:srgbClr val="94A3B8"/>
                </a:solidFill>
                <a:latin typeface="Arial"/>
              </a:rPr>
              <a:t>Log worker attendance markers automatically.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0F0F5"/>
                </a:solidFill>
                <a:latin typeface="Arial"/>
              </a:rPr>
              <a:t>• Residential Security: </a:t>
            </a:r>
            <a:r>
              <a:rPr sz="1100">
                <a:solidFill>
                  <a:srgbClr val="94A3B8"/>
                </a:solidFill>
                <a:latin typeface="Arial"/>
              </a:rPr>
              <a:t>Enhance home access gates with automated alarms.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F007F"/>
                </a:solidFill>
                <a:latin typeface="Arial"/>
              </a:rPr>
              <a:t>Future Expansion Roadmap:
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F007F"/>
                </a:solidFill>
                <a:latin typeface="Courier New"/>
              </a:rPr>
              <a:t>» Behavior Anomaly Flags: </a:t>
            </a:r>
            <a:r>
              <a:rPr sz="1100">
                <a:solidFill>
                  <a:srgbClr val="94A3B8"/>
                </a:solidFill>
                <a:latin typeface="Arial"/>
              </a:rPr>
              <a:t>Trigger logs for loitering, falls, or fights.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F007F"/>
                </a:solidFill>
                <a:latin typeface="Courier New"/>
              </a:rPr>
              <a:t>» Instant Mobile Alerts: </a:t>
            </a:r>
            <a:r>
              <a:rPr sz="1100">
                <a:solidFill>
                  <a:srgbClr val="94A3B8"/>
                </a:solidFill>
                <a:latin typeface="Arial"/>
              </a:rPr>
              <a:t>Send immediate threat snapshots via Telegram.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F007F"/>
                </a:solidFill>
                <a:latin typeface="Courier New"/>
              </a:rPr>
              <a:t>» Multi-camera Central Nodes: </a:t>
            </a:r>
            <a:r>
              <a:rPr sz="1100">
                <a:solidFill>
                  <a:srgbClr val="94A3B8"/>
                </a:solidFill>
                <a:latin typeface="Arial"/>
              </a:rPr>
              <a:t>Scale pipeline load across central servers.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F007F"/>
                </a:solidFill>
                <a:latin typeface="Courier New"/>
              </a:rPr>
              <a:t>» Cloud Analytics Sync: </a:t>
            </a:r>
            <a:r>
              <a:rPr sz="1100">
                <a:solidFill>
                  <a:srgbClr val="94A3B8"/>
                </a:solidFill>
                <a:latin typeface="Arial"/>
              </a:rPr>
              <a:t>Publish local logs to remote browser dashboards.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11277295" cy="18288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217920"/>
            <a:ext cx="11277295" cy="18288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Courier New"/>
              </a:defRPr>
            </a:pPr>
            <a:r>
              <a:t>OMS // AI SURVEILLANCE &amp; REAL-TIME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274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FF66"/>
                </a:solidFill>
                <a:latin typeface="Courier New"/>
              </a:defRPr>
            </a:pPr>
            <a:r>
              <a:t>SYS_STATUS: 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007F"/>
                </a:solidFill>
                <a:latin typeface="Courier New"/>
              </a:rPr>
              <a:t>07 </a:t>
            </a:r>
            <a:r>
              <a:rPr sz="2800" b="1">
                <a:solidFill>
                  <a:srgbClr val="F0F0F5"/>
                </a:solidFill>
                <a:latin typeface="Arial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4114800" cy="36576"/>
          </a:xfrm>
          <a:prstGeom prst="rect">
            <a:avLst/>
          </a:prstGeom>
          <a:solidFill>
            <a:srgbClr val="FF007F"/>
          </a:solidFill>
          <a:ln>
            <a:solidFill>
              <a:srgbClr val="FF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011680"/>
            <a:ext cx="9448495" cy="1828800"/>
          </a:xfrm>
          <a:prstGeom prst="rect">
            <a:avLst/>
          </a:prstGeom>
          <a:solidFill>
            <a:srgbClr val="0A122A"/>
          </a:solidFill>
          <a:ln w="25400">
            <a:solidFill>
              <a:srgbClr val="FF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007F"/>
                </a:solidFill>
                <a:latin typeface="Arial"/>
              </a:rPr>
              <a:t>SUMMARY &amp; CONCLUSION
</a:t>
            </a:r>
            <a:r>
              <a:rPr sz="1200">
                <a:solidFill>
                  <a:srgbClr val="F0F0F5"/>
                </a:solidFill>
                <a:latin typeface="Arial"/>
              </a:rPr>
              <a:t>OMS is an AI-powered smart surveillance system that improves traditional CCTV monitoring by adding real-time object detection, tracking, recognition, and event logging. It helps reduce manual monitoring effort and provides a more intelligent and efficient security monitoring solution.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114800"/>
            <a:ext cx="4572000" cy="1371600"/>
          </a:xfrm>
          <a:prstGeom prst="rect">
            <a:avLst/>
          </a:prstGeom>
          <a:solidFill>
            <a:srgbClr val="050C1C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F0FF"/>
                </a:solidFill>
                <a:latin typeface="Courier New"/>
              </a:rPr>
              <a:t>[OMS GITHUB REPOSITORY]
</a:t>
            </a:r>
            <a:r>
              <a:rPr sz="1100">
                <a:solidFill>
                  <a:srgbClr val="F0F0F5"/>
                </a:solidFill>
                <a:latin typeface="Arial"/>
              </a:rPr>
              <a:t>Developer Profile: github.com/yourprofile
Repository: github.com/yourprofile/oms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8095" y="4114800"/>
            <a:ext cx="4572000" cy="1371600"/>
          </a:xfrm>
          <a:prstGeom prst="rect">
            <a:avLst/>
          </a:prstGeom>
          <a:solidFill>
            <a:srgbClr val="05050A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500"/>
              </a:spcBef>
            </a:pPr>
            <a:r>
              <a:rPr sz="2800" b="1">
                <a:solidFill>
                  <a:srgbClr val="00F0FF"/>
                </a:solidFill>
                <a:latin typeface="Arial"/>
              </a:rPr>
              <a:t>THANK YOU
</a:t>
            </a:r>
            <a:r>
              <a:rPr sz="1000">
                <a:solidFill>
                  <a:srgbClr val="94A3B8"/>
                </a:solidFill>
                <a:latin typeface="Courier New"/>
              </a:rPr>
              <a:t>Q&amp;A Session //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